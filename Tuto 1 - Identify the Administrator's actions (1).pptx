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9F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9F59A"/>
                </a:solidFill>
                <a:latin typeface="Aptos"/>
              </a:defRPr>
            </a:pPr>
            <a:r>
              <a:t>SOLICODE  / 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07040" cy="1417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400" b="1">
                <a:solidFill>
                  <a:srgbClr val="F5F8F6"/>
                </a:solidFill>
                <a:latin typeface="Aptos"/>
              </a:defRPr>
            </a:pPr>
            <a:r>
              <a:t>IDENTIFY THE</a:t>
            </a:r>
            <a:br/>
            <a:r>
              <a:t>ADMINISTRATOR'S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100" b="1">
                <a:solidFill>
                  <a:srgbClr val="39F59A"/>
                </a:solidFill>
                <a:latin typeface="Aptos"/>
              </a:defRPr>
            </a:pPr>
            <a:r>
              <a:t>Analyze the blog administration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8755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A6B3AB"/>
                </a:solidFill>
                <a:latin typeface="Aptos"/>
              </a:defRPr>
            </a:pPr>
            <a:r>
              <a:t>Goal: list what an administrator can do with articles, categories, and the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74920"/>
            <a:ext cx="2423160" cy="749808"/>
          </a:xfrm>
          <a:prstGeom prst="roundRect">
            <a:avLst/>
          </a:prstGeom>
          <a:solidFill>
            <a:srgbClr val="111715"/>
          </a:solidFill>
          <a:ln>
            <a:solidFill>
              <a:srgbClr val="2B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21208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39F59A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5266944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1">
                <a:solidFill>
                  <a:srgbClr val="F5F8F6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79" y="5074920"/>
            <a:ext cx="2423160" cy="749808"/>
          </a:xfrm>
          <a:prstGeom prst="roundRect">
            <a:avLst/>
          </a:prstGeom>
          <a:solidFill>
            <a:srgbClr val="111715"/>
          </a:solidFill>
          <a:ln>
            <a:solidFill>
              <a:srgbClr val="2B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521208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39F59A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5266944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1">
                <a:solidFill>
                  <a:srgbClr val="F5F8F6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074920"/>
            <a:ext cx="2423160" cy="749808"/>
          </a:xfrm>
          <a:prstGeom prst="roundRect">
            <a:avLst/>
          </a:prstGeom>
          <a:solidFill>
            <a:srgbClr val="111715"/>
          </a:solidFill>
          <a:ln>
            <a:solidFill>
              <a:srgbClr val="2B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521208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39F59A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5266944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1">
                <a:solidFill>
                  <a:srgbClr val="F5F8F6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5074920"/>
            <a:ext cx="2423160" cy="749808"/>
          </a:xfrm>
          <a:prstGeom prst="roundRect">
            <a:avLst/>
          </a:prstGeom>
          <a:solidFill>
            <a:srgbClr val="111715"/>
          </a:solidFill>
          <a:ln>
            <a:solidFill>
              <a:srgbClr val="2B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1" y="521208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39F59A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2951" y="5266944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1">
                <a:solidFill>
                  <a:srgbClr val="F5F8F6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A6B3AB"/>
                </a:solidFill>
                <a:latin typeface="Aptos"/>
              </a:defRPr>
            </a:pPr>
            <a:r>
              <a:t>SOLICODE  /  WEB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39F59A"/>
                </a:solidFill>
                <a:latin typeface="Aptos"/>
              </a:defRPr>
            </a:pPr>
            <a: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9F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39F59A"/>
                </a:solidFill>
                <a:latin typeface="Aptos"/>
              </a:defRPr>
            </a:pPr>
            <a:r>
              <a:t>01 /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F5F8F6"/>
                </a:solidFill>
                <a:latin typeface="Aptos"/>
              </a:defRPr>
            </a:pPr>
            <a:r>
              <a:t>CRUD: the basic management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A6B3AB"/>
                </a:solidFill>
                <a:latin typeface="Aptos"/>
              </a:defRPr>
            </a:pPr>
            <a:r>
              <a:t>Most administration actions fit into four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12080" cy="1353312"/>
          </a:xfrm>
          <a:prstGeom prst="roundRect">
            <a:avLst/>
          </a:prstGeom>
          <a:solidFill>
            <a:srgbClr val="111715"/>
          </a:solidFill>
          <a:ln>
            <a:solidFill>
              <a:srgbClr val="2B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480974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39F59A"/>
                </a:solidFill>
                <a:latin typeface="Aptos"/>
              </a:defRPr>
            </a:pPr>
            <a:r>
              <a:t>C  /  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79192"/>
            <a:ext cx="4809744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5F8F6"/>
                </a:solidFill>
                <a:latin typeface="Aptos"/>
              </a:defRPr>
            </a:pPr>
            <a:r>
              <a:t>Add new data</a:t>
            </a:r>
            <a:br/>
            <a:r>
              <a:t>Example: create an article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57400"/>
            <a:ext cx="5212080" cy="1353312"/>
          </a:xfrm>
          <a:prstGeom prst="roundRect">
            <a:avLst/>
          </a:prstGeom>
          <a:solidFill>
            <a:srgbClr val="111715"/>
          </a:solidFill>
          <a:ln>
            <a:solidFill>
              <a:srgbClr val="2B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221992"/>
            <a:ext cx="480974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39F59A"/>
                </a:solidFill>
                <a:latin typeface="Aptos"/>
              </a:defRPr>
            </a:pPr>
            <a:r>
              <a:t>R  / 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679192"/>
            <a:ext cx="4809744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5F8F6"/>
                </a:solidFill>
                <a:latin typeface="Aptos"/>
              </a:defRPr>
            </a:pPr>
            <a:r>
              <a:t>View existing data</a:t>
            </a:r>
            <a:br/>
            <a:r>
              <a:t>Example: see the article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49039"/>
            <a:ext cx="5212080" cy="1353312"/>
          </a:xfrm>
          <a:prstGeom prst="roundRect">
            <a:avLst/>
          </a:prstGeom>
          <a:solidFill>
            <a:srgbClr val="111715"/>
          </a:solidFill>
          <a:ln>
            <a:solidFill>
              <a:srgbClr val="2B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913631"/>
            <a:ext cx="480974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39F59A"/>
                </a:solidFill>
                <a:latin typeface="Aptos"/>
              </a:defRPr>
            </a:pPr>
            <a:r>
              <a:t>U  /  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370831"/>
            <a:ext cx="4809744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5F8F6"/>
                </a:solidFill>
                <a:latin typeface="Aptos"/>
              </a:defRPr>
            </a:pPr>
            <a:r>
              <a:t>Modify existing data</a:t>
            </a:r>
            <a:br/>
            <a:r>
              <a:t>Example: edit an article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49039"/>
            <a:ext cx="5212080" cy="1353312"/>
          </a:xfrm>
          <a:prstGeom prst="roundRect">
            <a:avLst/>
          </a:prstGeom>
          <a:solidFill>
            <a:srgbClr val="111715"/>
          </a:solidFill>
          <a:ln>
            <a:solidFill>
              <a:srgbClr val="2B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3913631"/>
            <a:ext cx="480974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39F59A"/>
                </a:solidFill>
                <a:latin typeface="Aptos"/>
              </a:defRPr>
            </a:pPr>
            <a:r>
              <a:t>D  /  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4370831"/>
            <a:ext cx="4809744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5F8F6"/>
                </a:solidFill>
                <a:latin typeface="Aptos"/>
              </a:defRPr>
            </a:pPr>
            <a:r>
              <a:t>Remove data</a:t>
            </a:r>
            <a:br/>
            <a:r>
              <a:t>Example: delete a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62356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A6B3AB"/>
                </a:solidFill>
                <a:latin typeface="Aptos"/>
              </a:defRPr>
            </a:pPr>
            <a:r>
              <a:t>Remember: CRUD describes the actions; it does not describe the type of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A6B3AB"/>
                </a:solidFill>
                <a:latin typeface="Aptos"/>
              </a:defRPr>
            </a:pPr>
            <a:r>
              <a:t>SOLICODE  /  WEB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39F59A"/>
                </a:solidFill>
                <a:latin typeface="Aptos"/>
              </a:defRPr>
            </a:pPr>
            <a: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9F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39F59A"/>
                </a:solidFill>
                <a:latin typeface="Aptos"/>
              </a:defRPr>
            </a:pPr>
            <a:r>
              <a:t>02 /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F5F8F6"/>
                </a:solidFill>
                <a:latin typeface="Aptos"/>
              </a:defRPr>
            </a:pPr>
            <a:r>
              <a:t>Entities in a blog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A6B3AB"/>
                </a:solidFill>
                <a:latin typeface="Aptos"/>
              </a:defRPr>
            </a:pPr>
            <a:r>
              <a:t>An entity is a type of data managed by the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48840"/>
            <a:ext cx="5212080" cy="2423160"/>
          </a:xfrm>
          <a:prstGeom prst="roundRect">
            <a:avLst/>
          </a:prstGeom>
          <a:solidFill>
            <a:srgbClr val="111715"/>
          </a:solidFill>
          <a:ln>
            <a:solidFill>
              <a:srgbClr val="2B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13432"/>
            <a:ext cx="480974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39F59A"/>
                </a:solidFill>
                <a:latin typeface="Aptos"/>
              </a:defRPr>
            </a:pPr>
            <a:r>
              <a:t>ENTITY 01  /  ARTICLE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70632"/>
            <a:ext cx="4809744" cy="1673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5F8F6"/>
                </a:solidFill>
                <a:latin typeface="Aptos"/>
              </a:defRPr>
            </a:pPr>
            <a:r>
              <a:t>Contains blog content.</a:t>
            </a:r>
            <a:br/>
            <a:br/>
            <a:r>
              <a:t>Examples of actions:</a:t>
            </a:r>
            <a:br/>
            <a:r>
              <a:t>• List articles</a:t>
            </a:r>
            <a:br/>
            <a:r>
              <a:t>• Add an article</a:t>
            </a:r>
            <a:br/>
            <a:r>
              <a:t>• Edit or delete an article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212080" cy="2423160"/>
          </a:xfrm>
          <a:prstGeom prst="roundRect">
            <a:avLst/>
          </a:prstGeom>
          <a:solidFill>
            <a:srgbClr val="111715"/>
          </a:solidFill>
          <a:ln>
            <a:solidFill>
              <a:srgbClr val="2B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2313432"/>
            <a:ext cx="480974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39F59A"/>
                </a:solidFill>
                <a:latin typeface="Aptos"/>
              </a:defRPr>
            </a:pPr>
            <a:r>
              <a:t>ENTITY 02  / 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770632"/>
            <a:ext cx="4809744" cy="1673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5F8F6"/>
                </a:solidFill>
                <a:latin typeface="Aptos"/>
              </a:defRPr>
            </a:pPr>
            <a:r>
              <a:t>Groups articles by topic.</a:t>
            </a:r>
            <a:br/>
            <a:br/>
            <a:r>
              <a:t>Examples of actions:</a:t>
            </a:r>
            <a:br/>
            <a:r>
              <a:t>• List categories</a:t>
            </a:r>
            <a:br/>
            <a:r>
              <a:t>• Add a category</a:t>
            </a:r>
            <a:br/>
            <a:r>
              <a:t>• Edit or delete a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66360"/>
            <a:ext cx="105156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9F59A"/>
                </a:solidFill>
                <a:latin typeface="Aptos"/>
              </a:defRPr>
            </a:pPr>
            <a:r>
              <a:t>Dashboard = the main administration page.   Form = fields used to add or modify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A6B3AB"/>
                </a:solidFill>
                <a:latin typeface="Aptos"/>
              </a:defRPr>
            </a:pPr>
            <a:r>
              <a:t>SOLICODE  /  WEB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39F59A"/>
                </a:solidFill>
                <a:latin typeface="Aptos"/>
              </a:defRPr>
            </a:pPr>
            <a: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9F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39F59A"/>
                </a:solidFill>
                <a:latin typeface="Aptos"/>
              </a:defRPr>
            </a:pPr>
            <a:r>
              <a:t>03 /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F5F8F6"/>
                </a:solidFill>
                <a:latin typeface="Aptos"/>
              </a:defRPr>
            </a:pPr>
            <a:r>
              <a:t>Explore the dashboard and articles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A6B3AB"/>
                </a:solidFill>
                <a:latin typeface="Aptos"/>
              </a:defRPr>
            </a:pPr>
            <a:r>
              <a:t>Observe the interface first, then record each action you can perform.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993392"/>
            <a:ext cx="3429000" cy="3246120"/>
          </a:xfrm>
          <a:prstGeom prst="roundRect">
            <a:avLst/>
          </a:prstGeom>
          <a:solidFill>
            <a:srgbClr val="111715"/>
          </a:solidFill>
          <a:ln>
            <a:solidFill>
              <a:srgbClr val="2B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57984"/>
            <a:ext cx="302666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39F59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3026664" cy="2496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5F8F6"/>
                </a:solidFill>
                <a:latin typeface="Aptos"/>
              </a:defRPr>
            </a:pPr>
            <a:r>
              <a:t>• Open Article Management</a:t>
            </a:r>
            <a:br/>
            <a:br/>
            <a:r>
              <a:t>• Open Category Management</a:t>
            </a:r>
            <a:br/>
            <a:br/>
            <a:r>
              <a:t>• Log 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93392"/>
            <a:ext cx="3429000" cy="3246120"/>
          </a:xfrm>
          <a:prstGeom prst="roundRect">
            <a:avLst/>
          </a:prstGeom>
          <a:solidFill>
            <a:srgbClr val="111715"/>
          </a:solidFill>
          <a:ln>
            <a:solidFill>
              <a:srgbClr val="2B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57984"/>
            <a:ext cx="302666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39F59A"/>
                </a:solidFill>
                <a:latin typeface="Aptos"/>
              </a:defRPr>
            </a:pPr>
            <a:r>
              <a:t>ARTICLE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615184"/>
            <a:ext cx="3026664" cy="2496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5F8F6"/>
                </a:solidFill>
                <a:latin typeface="Aptos"/>
              </a:defRPr>
            </a:pPr>
            <a:r>
              <a:t>• View all articles</a:t>
            </a:r>
            <a:br/>
            <a:br/>
            <a:r>
              <a:t>• Choose “Add an article”</a:t>
            </a:r>
            <a:br/>
            <a:br/>
            <a:r>
              <a:t>• Select Edit or Delete on a 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993392"/>
            <a:ext cx="3429000" cy="3246120"/>
          </a:xfrm>
          <a:prstGeom prst="roundRect">
            <a:avLst/>
          </a:prstGeom>
          <a:solidFill>
            <a:srgbClr val="111715"/>
          </a:solidFill>
          <a:ln>
            <a:solidFill>
              <a:srgbClr val="2B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2157984"/>
            <a:ext cx="302666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39F59A"/>
                </a:solidFill>
                <a:latin typeface="Aptos"/>
              </a:defRPr>
            </a:pPr>
            <a:r>
              <a:t>ARTICLE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2615184"/>
            <a:ext cx="3026664" cy="2496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5F8F6"/>
                </a:solidFill>
                <a:latin typeface="Aptos"/>
              </a:defRPr>
            </a:pPr>
            <a:r>
              <a:t>• Enter the title</a:t>
            </a:r>
            <a:br/>
            <a:br/>
            <a:r>
              <a:t>• Add/select an image and category</a:t>
            </a:r>
            <a:br/>
            <a:br/>
            <a:r>
              <a:t>• Enter content and 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A6B3AB"/>
                </a:solidFill>
                <a:latin typeface="Aptos"/>
              </a:defRPr>
            </a:pPr>
            <a:r>
              <a:t>Tip: look for menu links, buttons, icons, input fields, and save controls.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A6B3AB"/>
                </a:solidFill>
                <a:latin typeface="Aptos"/>
              </a:defRPr>
            </a:pPr>
            <a:r>
              <a:t>SOLICODE  /  WEB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39F59A"/>
                </a:solidFill>
                <a:latin typeface="Aptos"/>
              </a:defRPr>
            </a:pPr>
            <a: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9F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39F59A"/>
                </a:solidFill>
                <a:latin typeface="Aptos"/>
              </a:defRPr>
            </a:pPr>
            <a:r>
              <a:t>04 / FORMALIZE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F5F8F6"/>
                </a:solidFill>
                <a:latin typeface="Aptos"/>
              </a:defRPr>
            </a:pPr>
            <a:r>
              <a:t>Administrator actions: final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A6B3AB"/>
                </a:solidFill>
                <a:latin typeface="Aptos"/>
              </a:defRPr>
            </a:pPr>
            <a:r>
              <a:t>The same CRUD pattern applies to both main entities.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993392"/>
            <a:ext cx="5212080" cy="3429000"/>
          </a:xfrm>
          <a:prstGeom prst="roundRect">
            <a:avLst/>
          </a:prstGeom>
          <a:solidFill>
            <a:srgbClr val="111715"/>
          </a:solidFill>
          <a:ln>
            <a:solidFill>
              <a:srgbClr val="2B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57984"/>
            <a:ext cx="480974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39F59A"/>
                </a:solidFill>
                <a:latin typeface="Aptos"/>
              </a:defRPr>
            </a:pPr>
            <a:r>
              <a:t>ARTICLES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4809744" cy="2679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5F8F6"/>
                </a:solidFill>
                <a:latin typeface="Aptos"/>
              </a:defRPr>
            </a:pPr>
            <a:r>
              <a:t>READ  — View the article list</a:t>
            </a:r>
            <a:br/>
            <a:r>
              <a:t>CREATE — Add an article and save</a:t>
            </a:r>
            <a:br/>
            <a:r>
              <a:t>UPDATE — Edit an article</a:t>
            </a:r>
            <a:br/>
            <a:r>
              <a:t>DELETE — Delete an article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93392"/>
            <a:ext cx="5212080" cy="3429000"/>
          </a:xfrm>
          <a:prstGeom prst="roundRect">
            <a:avLst/>
          </a:prstGeom>
          <a:solidFill>
            <a:srgbClr val="111715"/>
          </a:solidFill>
          <a:ln>
            <a:solidFill>
              <a:srgbClr val="2B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2157984"/>
            <a:ext cx="480974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39F59A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615184"/>
            <a:ext cx="4809744" cy="2679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5F8F6"/>
                </a:solidFill>
                <a:latin typeface="Aptos"/>
              </a:defRPr>
            </a:pPr>
            <a:r>
              <a:t>READ  — View the category list</a:t>
            </a:r>
            <a:br/>
            <a:r>
              <a:t>CREATE — Add a category and save</a:t>
            </a:r>
            <a:br/>
            <a:r>
              <a:t>UPDATE — Edit a category</a:t>
            </a:r>
            <a:br/>
            <a:r>
              <a:t>DELETE — Delete a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9F59A"/>
                </a:solidFill>
                <a:latin typeface="Aptos"/>
              </a:defRPr>
            </a:pPr>
            <a:r>
              <a:t>Key takeaway: observe → identify actions → group them by entity → classify them with CRUD.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A6B3AB"/>
                </a:solidFill>
                <a:latin typeface="Aptos"/>
              </a:defRPr>
            </a:pPr>
            <a:r>
              <a:t>SOLICODE  /  WEB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39F59A"/>
                </a:solidFill>
                <a:latin typeface="Aptos"/>
              </a:defRPr>
            </a:pPr>
            <a: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